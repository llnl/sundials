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9144000" cy="6858000" type="screen4x3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-636" y="-34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5/21/2014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5/21/2014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5/21/2014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5/21/2014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5/21/2014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5/21/2014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5/21/2014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5/21/2014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3962400" y="838200"/>
            <a:ext cx="1066800" cy="381000"/>
          </a:xfrm>
          <a:prstGeom prst="round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SUNDIALS</a:t>
            </a:r>
            <a:endParaRPr lang="en-US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62000" y="1714500"/>
            <a:ext cx="914400" cy="342900"/>
          </a:xfrm>
          <a:prstGeom prst="round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lnSpcReduction="10000"/>
          </a:bodyPr>
          <a:lstStyle/>
          <a:p>
            <a:pPr algn="ctr">
              <a:lnSpc>
                <a:spcPct val="120000"/>
              </a:lnSpc>
            </a:pPr>
            <a:r>
              <a:rPr lang="en-US" sz="12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CVODE</a:t>
            </a:r>
            <a:endParaRPr lang="en-US" sz="12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800600" y="1714500"/>
            <a:ext cx="914400" cy="342900"/>
          </a:xfrm>
          <a:prstGeom prst="round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lnSpcReduction="10000"/>
          </a:bodyPr>
          <a:lstStyle/>
          <a:p>
            <a:pPr algn="ctr">
              <a:lnSpc>
                <a:spcPct val="120000"/>
              </a:lnSpc>
            </a:pPr>
            <a:r>
              <a:rPr lang="en-US" sz="12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IDA</a:t>
            </a:r>
            <a:endParaRPr lang="en-US" sz="12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133600" y="1714500"/>
            <a:ext cx="914400" cy="342900"/>
          </a:xfrm>
          <a:prstGeom prst="round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lnSpcReduction="10000"/>
          </a:bodyPr>
          <a:lstStyle/>
          <a:p>
            <a:pPr algn="ctr">
              <a:lnSpc>
                <a:spcPct val="120000"/>
              </a:lnSpc>
            </a:pPr>
            <a:r>
              <a:rPr lang="en-US" sz="12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CVODES</a:t>
            </a:r>
            <a:endParaRPr lang="en-US" sz="12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429000" y="1714500"/>
            <a:ext cx="914400" cy="342900"/>
          </a:xfrm>
          <a:prstGeom prst="round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lnSpcReduction="10000"/>
          </a:bodyPr>
          <a:lstStyle/>
          <a:p>
            <a:pPr algn="ctr">
              <a:lnSpc>
                <a:spcPct val="120000"/>
              </a:lnSpc>
            </a:pPr>
            <a:r>
              <a:rPr lang="en-US" sz="12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ARKODE</a:t>
            </a:r>
            <a:endParaRPr lang="en-US" sz="12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096000" y="1714500"/>
            <a:ext cx="914400" cy="342900"/>
          </a:xfrm>
          <a:prstGeom prst="round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lnSpcReduction="10000"/>
          </a:bodyPr>
          <a:lstStyle/>
          <a:p>
            <a:pPr algn="ctr">
              <a:lnSpc>
                <a:spcPct val="120000"/>
              </a:lnSpc>
            </a:pPr>
            <a:r>
              <a:rPr lang="en-US" sz="12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IDAS</a:t>
            </a:r>
            <a:endParaRPr lang="en-US" sz="12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391400" y="1714500"/>
            <a:ext cx="914400" cy="342900"/>
          </a:xfrm>
          <a:prstGeom prst="round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lnSpcReduction="10000"/>
          </a:bodyPr>
          <a:lstStyle/>
          <a:p>
            <a:pPr algn="ctr">
              <a:lnSpc>
                <a:spcPct val="120000"/>
              </a:lnSpc>
            </a:pPr>
            <a:r>
              <a:rPr lang="en-US" sz="12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KINSOL</a:t>
            </a:r>
            <a:endParaRPr lang="en-US" sz="12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6" name="Elbow Connector 15"/>
          <p:cNvCxnSpPr>
            <a:stCxn id="4" idx="2"/>
            <a:endCxn id="10" idx="0"/>
          </p:cNvCxnSpPr>
          <p:nvPr/>
        </p:nvCxnSpPr>
        <p:spPr>
          <a:xfrm rot="16200000" flipH="1">
            <a:off x="4629150" y="1085850"/>
            <a:ext cx="495300" cy="762000"/>
          </a:xfrm>
          <a:prstGeom prst="bentConnector3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/>
          <p:cNvCxnSpPr>
            <a:stCxn id="4" idx="2"/>
            <a:endCxn id="9" idx="0"/>
          </p:cNvCxnSpPr>
          <p:nvPr/>
        </p:nvCxnSpPr>
        <p:spPr>
          <a:xfrm rot="5400000">
            <a:off x="2609850" y="-171450"/>
            <a:ext cx="495300" cy="3276600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4" idx="2"/>
            <a:endCxn id="11" idx="0"/>
          </p:cNvCxnSpPr>
          <p:nvPr/>
        </p:nvCxnSpPr>
        <p:spPr>
          <a:xfrm rot="5400000">
            <a:off x="3295650" y="514350"/>
            <a:ext cx="495300" cy="1905000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4" idx="2"/>
            <a:endCxn id="12" idx="0"/>
          </p:cNvCxnSpPr>
          <p:nvPr/>
        </p:nvCxnSpPr>
        <p:spPr>
          <a:xfrm rot="5400000">
            <a:off x="3943350" y="1162050"/>
            <a:ext cx="495300" cy="609600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4" idx="2"/>
            <a:endCxn id="13" idx="0"/>
          </p:cNvCxnSpPr>
          <p:nvPr/>
        </p:nvCxnSpPr>
        <p:spPr>
          <a:xfrm rot="16200000" flipH="1">
            <a:off x="5276850" y="438150"/>
            <a:ext cx="495300" cy="2057400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23"/>
          <p:cNvCxnSpPr>
            <a:stCxn id="4" idx="2"/>
            <a:endCxn id="14" idx="0"/>
          </p:cNvCxnSpPr>
          <p:nvPr/>
        </p:nvCxnSpPr>
        <p:spPr>
          <a:xfrm rot="16200000" flipH="1">
            <a:off x="5924550" y="-209550"/>
            <a:ext cx="495300" cy="3352800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762000" y="2590800"/>
            <a:ext cx="7543800" cy="1219200"/>
          </a:xfrm>
          <a:prstGeom prst="rect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PACKAGE SPECIFIC LINEAR SOLVER INTERFACES</a:t>
            </a:r>
            <a:endParaRPr lang="en-US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41" name="Straight Arrow Connector 40"/>
          <p:cNvCxnSpPr>
            <a:stCxn id="9" idx="2"/>
          </p:cNvCxnSpPr>
          <p:nvPr/>
        </p:nvCxnSpPr>
        <p:spPr>
          <a:xfrm>
            <a:off x="1219200" y="2057400"/>
            <a:ext cx="0" cy="53340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>
            <a:off x="7840133" y="2053167"/>
            <a:ext cx="0" cy="53340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553200" y="2053167"/>
            <a:ext cx="0" cy="53340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/>
          <p:nvPr/>
        </p:nvCxnSpPr>
        <p:spPr>
          <a:xfrm>
            <a:off x="5257800" y="2057400"/>
            <a:ext cx="0" cy="53340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/>
          <p:nvPr/>
        </p:nvCxnSpPr>
        <p:spPr>
          <a:xfrm>
            <a:off x="3886200" y="2070100"/>
            <a:ext cx="0" cy="53340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>
            <a:off x="2590800" y="2070100"/>
            <a:ext cx="0" cy="53340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Elbow Connector 56"/>
          <p:cNvCxnSpPr>
            <a:stCxn id="35" idx="2"/>
            <a:endCxn id="64" idx="0"/>
          </p:cNvCxnSpPr>
          <p:nvPr/>
        </p:nvCxnSpPr>
        <p:spPr>
          <a:xfrm rot="5400000">
            <a:off x="3135842" y="3097742"/>
            <a:ext cx="685800" cy="2110316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/>
          <p:cNvCxnSpPr>
            <a:stCxn id="35" idx="2"/>
            <a:endCxn id="63" idx="0"/>
          </p:cNvCxnSpPr>
          <p:nvPr/>
        </p:nvCxnSpPr>
        <p:spPr>
          <a:xfrm rot="16200000" flipH="1">
            <a:off x="5290608" y="3053292"/>
            <a:ext cx="677335" cy="2190750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4838700" y="4487335"/>
            <a:ext cx="3771900" cy="1752600"/>
          </a:xfrm>
          <a:prstGeom prst="rect">
            <a:avLst/>
          </a:prstGeom>
          <a:solidFill>
            <a:schemeClr val="accent1"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2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NVECTOR MODULES</a:t>
            </a:r>
            <a:endParaRPr lang="en-US" sz="12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6377518" y="4876801"/>
            <a:ext cx="728133" cy="228600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NVECTOR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5124450" y="5346700"/>
            <a:ext cx="728133" cy="228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SERIAL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6758518" y="5325533"/>
            <a:ext cx="804333" cy="228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PARALLEL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5852584" y="5791200"/>
            <a:ext cx="795868" cy="228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PTHREADS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76" name="Rectangle 75"/>
          <p:cNvSpPr/>
          <p:nvPr/>
        </p:nvSpPr>
        <p:spPr>
          <a:xfrm>
            <a:off x="6800851" y="5791200"/>
            <a:ext cx="728133" cy="228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OPENMP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7681384" y="5791200"/>
            <a:ext cx="728133" cy="228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MPI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78" name="Elbow Connector 77"/>
          <p:cNvCxnSpPr>
            <a:stCxn id="74" idx="2"/>
            <a:endCxn id="76" idx="0"/>
          </p:cNvCxnSpPr>
          <p:nvPr/>
        </p:nvCxnSpPr>
        <p:spPr>
          <a:xfrm rot="16200000" flipH="1">
            <a:off x="7044268" y="5670549"/>
            <a:ext cx="237067" cy="4233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74" idx="2"/>
            <a:endCxn id="75" idx="0"/>
          </p:cNvCxnSpPr>
          <p:nvPr/>
        </p:nvCxnSpPr>
        <p:spPr>
          <a:xfrm rot="5400000">
            <a:off x="6587069" y="5217583"/>
            <a:ext cx="237067" cy="910167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Elbow Connector 79"/>
          <p:cNvCxnSpPr>
            <a:stCxn id="74" idx="2"/>
            <a:endCxn id="77" idx="0"/>
          </p:cNvCxnSpPr>
          <p:nvPr/>
        </p:nvCxnSpPr>
        <p:spPr>
          <a:xfrm rot="16200000" flipH="1">
            <a:off x="7484535" y="5230283"/>
            <a:ext cx="237067" cy="884766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Elbow Connector 86"/>
          <p:cNvCxnSpPr>
            <a:stCxn id="72" idx="2"/>
            <a:endCxn id="74" idx="0"/>
          </p:cNvCxnSpPr>
          <p:nvPr/>
        </p:nvCxnSpPr>
        <p:spPr>
          <a:xfrm rot="16200000" flipH="1">
            <a:off x="6841069" y="5005917"/>
            <a:ext cx="220132" cy="419100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Elbow Connector 60"/>
          <p:cNvCxnSpPr>
            <a:stCxn id="72" idx="2"/>
            <a:endCxn id="73" idx="0"/>
          </p:cNvCxnSpPr>
          <p:nvPr/>
        </p:nvCxnSpPr>
        <p:spPr>
          <a:xfrm rot="5400000">
            <a:off x="5994402" y="4599516"/>
            <a:ext cx="241299" cy="1253068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351367" y="4495800"/>
            <a:ext cx="4144433" cy="1752600"/>
          </a:xfrm>
          <a:prstGeom prst="rect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2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GENERIC LINEAR SOLVERS</a:t>
            </a:r>
            <a:endParaRPr lang="en-US" sz="12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3572764" y="4923367"/>
            <a:ext cx="685800" cy="2286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PCG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446746" y="4923367"/>
            <a:ext cx="774700" cy="2286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DENSE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446746" y="5418666"/>
            <a:ext cx="723900" cy="2286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BAND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2361206" y="5418666"/>
            <a:ext cx="1028700" cy="2286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SPFGMR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86" name="Rectangle 85"/>
          <p:cNvSpPr/>
          <p:nvPr/>
        </p:nvSpPr>
        <p:spPr>
          <a:xfrm>
            <a:off x="2600885" y="5867400"/>
            <a:ext cx="990600" cy="2286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SPTFQMR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88" name="Rectangle 87"/>
          <p:cNvSpPr/>
          <p:nvPr/>
        </p:nvSpPr>
        <p:spPr>
          <a:xfrm>
            <a:off x="3568959" y="5418666"/>
            <a:ext cx="762000" cy="2286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SPBCG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2448485" y="4923367"/>
            <a:ext cx="838200" cy="2286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SPGMR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1549216" y="4923367"/>
            <a:ext cx="685800" cy="2286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KLU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1218205" y="5863165"/>
            <a:ext cx="1143001" cy="2286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SUPERLU_MT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4044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3017739" y="770468"/>
            <a:ext cx="1066800" cy="381000"/>
          </a:xfrm>
          <a:prstGeom prst="round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SUNDIALS</a:t>
            </a:r>
            <a:endParaRPr lang="en-US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286000" y="1524000"/>
            <a:ext cx="914400" cy="342900"/>
          </a:xfrm>
          <a:prstGeom prst="round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lnSpcReduction="10000"/>
          </a:bodyPr>
          <a:lstStyle/>
          <a:p>
            <a:pPr algn="ctr">
              <a:lnSpc>
                <a:spcPct val="120000"/>
              </a:lnSpc>
            </a:pPr>
            <a:r>
              <a:rPr lang="en-US" sz="12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IDA</a:t>
            </a:r>
            <a:endParaRPr lang="en-US" sz="12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21" name="Elbow Connector 20"/>
          <p:cNvCxnSpPr>
            <a:stCxn id="4" idx="2"/>
            <a:endCxn id="11" idx="0"/>
          </p:cNvCxnSpPr>
          <p:nvPr/>
        </p:nvCxnSpPr>
        <p:spPr>
          <a:xfrm rot="5400000">
            <a:off x="2960904" y="933765"/>
            <a:ext cx="372532" cy="807939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>
            <a:stCxn id="11" idx="2"/>
            <a:endCxn id="47" idx="0"/>
          </p:cNvCxnSpPr>
          <p:nvPr/>
        </p:nvCxnSpPr>
        <p:spPr>
          <a:xfrm>
            <a:off x="2743200" y="1866900"/>
            <a:ext cx="0" cy="495300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609600" y="2362200"/>
            <a:ext cx="4267200" cy="1752600"/>
          </a:xfrm>
          <a:prstGeom prst="rect">
            <a:avLst/>
          </a:prstGeom>
          <a:solidFill>
            <a:schemeClr val="accent2">
              <a:lumMod val="20000"/>
              <a:lumOff val="80000"/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2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LINEAR SOLVERS</a:t>
            </a:r>
            <a:endParaRPr lang="en-US" sz="12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5105400" y="2362200"/>
            <a:ext cx="3333750" cy="1752600"/>
          </a:xfrm>
          <a:prstGeom prst="rect">
            <a:avLst/>
          </a:prstGeom>
          <a:solidFill>
            <a:schemeClr val="accent1"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2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NVECTOR MODULES</a:t>
            </a:r>
            <a:endParaRPr lang="en-US" sz="12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3989618" y="2794001"/>
            <a:ext cx="685800" cy="2286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IDAPCG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863600" y="2794001"/>
            <a:ext cx="774700" cy="2286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IDADENSE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863600" y="3289300"/>
            <a:ext cx="723900" cy="2286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IDABAND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2778060" y="3289300"/>
            <a:ext cx="1028700" cy="2286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IDASPFGMR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3017739" y="3738034"/>
            <a:ext cx="990600" cy="2286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IDASPTFQMR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3985813" y="3289300"/>
            <a:ext cx="762000" cy="2286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IDASPBCG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2865339" y="2794001"/>
            <a:ext cx="838200" cy="2286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IDASPGMR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6739467" y="2675468"/>
            <a:ext cx="728133" cy="228600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NVECTOR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5291667" y="3289300"/>
            <a:ext cx="728133" cy="228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SERIAL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6705600" y="3268133"/>
            <a:ext cx="804333" cy="228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PARALLEL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75" name="Rectangle 74"/>
          <p:cNvSpPr/>
          <p:nvPr/>
        </p:nvSpPr>
        <p:spPr>
          <a:xfrm>
            <a:off x="5757333" y="3733800"/>
            <a:ext cx="795868" cy="228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PTHREADS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76" name="Rectangle 75"/>
          <p:cNvSpPr/>
          <p:nvPr/>
        </p:nvSpPr>
        <p:spPr>
          <a:xfrm>
            <a:off x="6739466" y="3733799"/>
            <a:ext cx="728133" cy="228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OPENMP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7586133" y="3733800"/>
            <a:ext cx="728133" cy="228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MPI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78" name="Elbow Connector 77"/>
          <p:cNvCxnSpPr>
            <a:stCxn id="74" idx="2"/>
            <a:endCxn id="76" idx="0"/>
          </p:cNvCxnSpPr>
          <p:nvPr/>
        </p:nvCxnSpPr>
        <p:spPr>
          <a:xfrm rot="5400000">
            <a:off x="6987117" y="3613149"/>
            <a:ext cx="237066" cy="4234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74" idx="2"/>
            <a:endCxn id="75" idx="0"/>
          </p:cNvCxnSpPr>
          <p:nvPr/>
        </p:nvCxnSpPr>
        <p:spPr>
          <a:xfrm rot="5400000">
            <a:off x="6512984" y="3139016"/>
            <a:ext cx="237067" cy="952500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Elbow Connector 79"/>
          <p:cNvCxnSpPr>
            <a:stCxn id="74" idx="2"/>
            <a:endCxn id="77" idx="0"/>
          </p:cNvCxnSpPr>
          <p:nvPr/>
        </p:nvCxnSpPr>
        <p:spPr>
          <a:xfrm rot="16200000" flipH="1">
            <a:off x="7410450" y="3194049"/>
            <a:ext cx="237067" cy="842433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Elbow Connector 86"/>
          <p:cNvCxnSpPr>
            <a:stCxn id="72" idx="2"/>
            <a:endCxn id="74" idx="0"/>
          </p:cNvCxnSpPr>
          <p:nvPr/>
        </p:nvCxnSpPr>
        <p:spPr>
          <a:xfrm rot="16200000" flipH="1">
            <a:off x="6923618" y="3083983"/>
            <a:ext cx="364065" cy="4233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50"/>
          <p:cNvCxnSpPr>
            <a:stCxn id="72" idx="2"/>
            <a:endCxn id="73" idx="0"/>
          </p:cNvCxnSpPr>
          <p:nvPr/>
        </p:nvCxnSpPr>
        <p:spPr>
          <a:xfrm rot="5400000">
            <a:off x="6187018" y="2372784"/>
            <a:ext cx="385232" cy="1447800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1966070" y="2794001"/>
            <a:ext cx="685800" cy="2286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IDAKLU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1635059" y="3733799"/>
            <a:ext cx="1143001" cy="2286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IDASUPERLUMT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609600" y="4652432"/>
            <a:ext cx="2255739" cy="1511301"/>
          </a:xfrm>
          <a:prstGeom prst="rect">
            <a:avLst/>
          </a:prstGeom>
          <a:solidFill>
            <a:schemeClr val="accent1"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2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GENERIC DIRECT SOLVERS</a:t>
            </a:r>
            <a:endParaRPr lang="en-US" sz="12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86" name="Rectangle 85"/>
          <p:cNvSpPr/>
          <p:nvPr/>
        </p:nvSpPr>
        <p:spPr>
          <a:xfrm>
            <a:off x="1860550" y="5202767"/>
            <a:ext cx="774700" cy="228600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KLU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88" name="Rectangle 87"/>
          <p:cNvSpPr/>
          <p:nvPr/>
        </p:nvSpPr>
        <p:spPr>
          <a:xfrm>
            <a:off x="1752600" y="5693834"/>
            <a:ext cx="990600" cy="228600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SUPERLU_MT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738717" y="5202767"/>
            <a:ext cx="774700" cy="228600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DENSE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734483" y="5693834"/>
            <a:ext cx="774700" cy="228600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BAND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6324600" y="4643966"/>
            <a:ext cx="2133600" cy="1528234"/>
          </a:xfrm>
          <a:prstGeom prst="rect">
            <a:avLst/>
          </a:prstGeom>
          <a:solidFill>
            <a:schemeClr val="accent1"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2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PRECONDITIONER MODULES</a:t>
            </a:r>
            <a:endParaRPr lang="en-US" sz="12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6857999" y="5270503"/>
            <a:ext cx="1143001" cy="2286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IDABBDPRE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98" name="Straight Arrow Connector 97"/>
          <p:cNvCxnSpPr>
            <a:stCxn id="95" idx="1"/>
            <a:endCxn id="42" idx="3"/>
          </p:cNvCxnSpPr>
          <p:nvPr/>
        </p:nvCxnSpPr>
        <p:spPr>
          <a:xfrm flipH="1">
            <a:off x="5425347" y="5408083"/>
            <a:ext cx="899253" cy="8467"/>
          </a:xfrm>
          <a:prstGeom prst="straightConnector1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3041979" y="4660899"/>
            <a:ext cx="2383368" cy="1511301"/>
          </a:xfrm>
          <a:prstGeom prst="rect">
            <a:avLst/>
          </a:prstGeom>
          <a:solidFill>
            <a:schemeClr val="accent1">
              <a:alpha val="16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2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GENERIC KRYLOV SOLVERS</a:t>
            </a:r>
            <a:endParaRPr lang="en-US" sz="12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4472846" y="5230286"/>
            <a:ext cx="774700" cy="228600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PCG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3292410" y="5416549"/>
            <a:ext cx="934901" cy="228600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SPFGMR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3331666" y="5820835"/>
            <a:ext cx="822521" cy="228600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SPTFQMR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4483430" y="5706535"/>
            <a:ext cx="774700" cy="228600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SPBCG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3355576" y="5010151"/>
            <a:ext cx="774700" cy="228600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SPGMR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64" name="Elbow Connector 63"/>
          <p:cNvCxnSpPr>
            <a:stCxn id="11" idx="2"/>
            <a:endCxn id="63" idx="0"/>
          </p:cNvCxnSpPr>
          <p:nvPr/>
        </p:nvCxnSpPr>
        <p:spPr>
          <a:xfrm rot="16200000" flipH="1">
            <a:off x="4510087" y="100012"/>
            <a:ext cx="495300" cy="4029075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Elbow Connector 82"/>
          <p:cNvCxnSpPr>
            <a:stCxn id="47" idx="2"/>
            <a:endCxn id="85" idx="0"/>
          </p:cNvCxnSpPr>
          <p:nvPr/>
        </p:nvCxnSpPr>
        <p:spPr>
          <a:xfrm rot="5400000">
            <a:off x="1971519" y="3880751"/>
            <a:ext cx="537632" cy="1005730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/>
          <p:cNvCxnSpPr>
            <a:stCxn id="47" idx="2"/>
            <a:endCxn id="42" idx="0"/>
          </p:cNvCxnSpPr>
          <p:nvPr/>
        </p:nvCxnSpPr>
        <p:spPr>
          <a:xfrm rot="16200000" flipH="1">
            <a:off x="3215382" y="3642617"/>
            <a:ext cx="546099" cy="1490463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22905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3717498" y="85721"/>
            <a:ext cx="1066800" cy="304797"/>
          </a:xfrm>
          <a:prstGeom prst="round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rmAutofit fontScale="62500" lnSpcReduction="20000"/>
          </a:bodyPr>
          <a:lstStyle/>
          <a:p>
            <a:pPr algn="ctr">
              <a:lnSpc>
                <a:spcPct val="120000"/>
              </a:lnSpc>
            </a:pPr>
            <a:r>
              <a:rPr lang="en-US" dirty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</a:t>
            </a:r>
            <a:r>
              <a:rPr lang="en-US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undials-</a:t>
            </a:r>
            <a:r>
              <a:rPr lang="en-US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x.x.x</a:t>
            </a:r>
            <a:endParaRPr lang="en-US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21" name="Elbow Connector 20"/>
          <p:cNvCxnSpPr>
            <a:stCxn id="4" idx="2"/>
            <a:endCxn id="7" idx="0"/>
          </p:cNvCxnSpPr>
          <p:nvPr/>
        </p:nvCxnSpPr>
        <p:spPr>
          <a:xfrm rot="5400000">
            <a:off x="2833060" y="-718286"/>
            <a:ext cx="309035" cy="2526643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1935425" y="1076322"/>
            <a:ext cx="685800" cy="182880"/>
          </a:xfrm>
          <a:prstGeom prst="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cvode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402025" y="699553"/>
            <a:ext cx="644459" cy="182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1"/>
                </a:solidFill>
              </a:rPr>
              <a:t>include</a:t>
            </a:r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61" name="Elbow Connector 60"/>
          <p:cNvCxnSpPr>
            <a:stCxn id="4" idx="2"/>
            <a:endCxn id="147" idx="0"/>
          </p:cNvCxnSpPr>
          <p:nvPr/>
        </p:nvCxnSpPr>
        <p:spPr>
          <a:xfrm rot="5400000">
            <a:off x="3697695" y="146349"/>
            <a:ext cx="309035" cy="797372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/>
          <p:cNvSpPr/>
          <p:nvPr/>
        </p:nvSpPr>
        <p:spPr>
          <a:xfrm>
            <a:off x="7459365" y="695321"/>
            <a:ext cx="636193" cy="182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1"/>
                </a:solidFill>
              </a:rPr>
              <a:t>doc</a:t>
            </a:r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97" name="Elbow Connector 96"/>
          <p:cNvCxnSpPr>
            <a:stCxn id="4" idx="2"/>
            <a:endCxn id="99" idx="0"/>
          </p:cNvCxnSpPr>
          <p:nvPr/>
        </p:nvCxnSpPr>
        <p:spPr>
          <a:xfrm rot="16200000" flipH="1">
            <a:off x="5239720" y="-598305"/>
            <a:ext cx="309035" cy="2286679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6190558" y="699553"/>
            <a:ext cx="694038" cy="182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1"/>
                </a:solidFill>
              </a:rPr>
              <a:t>config</a:t>
            </a:r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100" name="Elbow Connector 99"/>
          <p:cNvCxnSpPr>
            <a:stCxn id="4" idx="2"/>
            <a:endCxn id="101" idx="0"/>
          </p:cNvCxnSpPr>
          <p:nvPr/>
        </p:nvCxnSpPr>
        <p:spPr>
          <a:xfrm rot="5400000">
            <a:off x="2208271" y="-1343073"/>
            <a:ext cx="309036" cy="3776219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94558" y="699554"/>
            <a:ext cx="760242" cy="178642"/>
          </a:xfrm>
          <a:prstGeom prst="rect">
            <a:avLst/>
          </a:prstGeom>
          <a:solidFill>
            <a:schemeClr val="accent2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1"/>
                </a:solidFill>
              </a:rPr>
              <a:t>sundialsTB</a:t>
            </a:r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105" name="Elbow Connector 104"/>
          <p:cNvCxnSpPr>
            <a:stCxn id="7" idx="2"/>
            <a:endCxn id="81" idx="1"/>
          </p:cNvCxnSpPr>
          <p:nvPr/>
        </p:nvCxnSpPr>
        <p:spPr>
          <a:xfrm rot="16200000" flipH="1">
            <a:off x="1687176" y="919512"/>
            <a:ext cx="285329" cy="211170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/>
          <p:cNvSpPr/>
          <p:nvPr/>
        </p:nvSpPr>
        <p:spPr>
          <a:xfrm>
            <a:off x="1938536" y="1414988"/>
            <a:ext cx="685800" cy="182880"/>
          </a:xfrm>
          <a:prstGeom prst="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cvodes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14" name="Elbow Connector 113"/>
          <p:cNvCxnSpPr>
            <a:stCxn id="7" idx="2"/>
            <a:endCxn id="113" idx="1"/>
          </p:cNvCxnSpPr>
          <p:nvPr/>
        </p:nvCxnSpPr>
        <p:spPr>
          <a:xfrm rot="16200000" flipH="1">
            <a:off x="1519398" y="1087289"/>
            <a:ext cx="623995" cy="214281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/>
          <p:cNvSpPr/>
          <p:nvPr/>
        </p:nvSpPr>
        <p:spPr>
          <a:xfrm>
            <a:off x="1942329" y="1762122"/>
            <a:ext cx="685800" cy="182880"/>
          </a:xfrm>
          <a:prstGeom prst="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arkode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16" name="Elbow Connector 115"/>
          <p:cNvCxnSpPr>
            <a:stCxn id="7" idx="2"/>
            <a:endCxn id="115" idx="1"/>
          </p:cNvCxnSpPr>
          <p:nvPr/>
        </p:nvCxnSpPr>
        <p:spPr>
          <a:xfrm rot="16200000" flipH="1">
            <a:off x="1347728" y="1258960"/>
            <a:ext cx="971129" cy="218074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tangle 116"/>
          <p:cNvSpPr/>
          <p:nvPr/>
        </p:nvSpPr>
        <p:spPr>
          <a:xfrm>
            <a:off x="1939098" y="2100788"/>
            <a:ext cx="685800" cy="182880"/>
          </a:xfrm>
          <a:prstGeom prst="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ida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18" name="Elbow Connector 117"/>
          <p:cNvCxnSpPr>
            <a:stCxn id="7" idx="2"/>
            <a:endCxn id="117" idx="1"/>
          </p:cNvCxnSpPr>
          <p:nvPr/>
        </p:nvCxnSpPr>
        <p:spPr>
          <a:xfrm rot="16200000" flipH="1">
            <a:off x="1176779" y="1429908"/>
            <a:ext cx="1309795" cy="214843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/>
          <p:cNvSpPr/>
          <p:nvPr/>
        </p:nvSpPr>
        <p:spPr>
          <a:xfrm>
            <a:off x="1939097" y="2447922"/>
            <a:ext cx="685800" cy="182880"/>
          </a:xfrm>
          <a:prstGeom prst="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idas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20" name="Elbow Connector 119"/>
          <p:cNvCxnSpPr>
            <a:stCxn id="7" idx="2"/>
            <a:endCxn id="119" idx="1"/>
          </p:cNvCxnSpPr>
          <p:nvPr/>
        </p:nvCxnSpPr>
        <p:spPr>
          <a:xfrm rot="16200000" flipH="1">
            <a:off x="1003212" y="1603476"/>
            <a:ext cx="1656929" cy="214842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Rectangle 120"/>
          <p:cNvSpPr/>
          <p:nvPr/>
        </p:nvSpPr>
        <p:spPr>
          <a:xfrm>
            <a:off x="1939096" y="2786588"/>
            <a:ext cx="685800" cy="182880"/>
          </a:xfrm>
          <a:prstGeom prst="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kinsol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22" name="Elbow Connector 121"/>
          <p:cNvCxnSpPr>
            <a:stCxn id="7" idx="2"/>
            <a:endCxn id="121" idx="1"/>
          </p:cNvCxnSpPr>
          <p:nvPr/>
        </p:nvCxnSpPr>
        <p:spPr>
          <a:xfrm rot="16200000" flipH="1">
            <a:off x="833878" y="1772809"/>
            <a:ext cx="1995595" cy="214841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Rectangle 122"/>
          <p:cNvSpPr/>
          <p:nvPr/>
        </p:nvSpPr>
        <p:spPr>
          <a:xfrm>
            <a:off x="1939096" y="3133720"/>
            <a:ext cx="685800" cy="182880"/>
          </a:xfrm>
          <a:prstGeom prst="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sundials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24" name="Elbow Connector 123"/>
          <p:cNvCxnSpPr>
            <a:stCxn id="7" idx="2"/>
            <a:endCxn id="123" idx="1"/>
          </p:cNvCxnSpPr>
          <p:nvPr/>
        </p:nvCxnSpPr>
        <p:spPr>
          <a:xfrm rot="16200000" flipH="1">
            <a:off x="660312" y="1946375"/>
            <a:ext cx="2342727" cy="214841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Rectangle 124"/>
          <p:cNvSpPr/>
          <p:nvPr/>
        </p:nvSpPr>
        <p:spPr>
          <a:xfrm>
            <a:off x="1939096" y="3472388"/>
            <a:ext cx="685800" cy="18288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nvector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26" name="Elbow Connector 125"/>
          <p:cNvCxnSpPr>
            <a:stCxn id="7" idx="2"/>
            <a:endCxn id="125" idx="1"/>
          </p:cNvCxnSpPr>
          <p:nvPr/>
        </p:nvCxnSpPr>
        <p:spPr>
          <a:xfrm rot="16200000" flipH="1">
            <a:off x="490978" y="2115709"/>
            <a:ext cx="2681395" cy="214841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Rectangle 145"/>
          <p:cNvSpPr/>
          <p:nvPr/>
        </p:nvSpPr>
        <p:spPr>
          <a:xfrm>
            <a:off x="3669054" y="1076322"/>
            <a:ext cx="685800" cy="182880"/>
          </a:xfrm>
          <a:prstGeom prst="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cvode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47" name="Rectangle 146"/>
          <p:cNvSpPr/>
          <p:nvPr/>
        </p:nvSpPr>
        <p:spPr>
          <a:xfrm>
            <a:off x="3211854" y="699553"/>
            <a:ext cx="483344" cy="1786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1"/>
                </a:solidFill>
              </a:rPr>
              <a:t>src</a:t>
            </a:r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148" name="Elbow Connector 147"/>
          <p:cNvCxnSpPr>
            <a:stCxn id="147" idx="2"/>
            <a:endCxn id="146" idx="1"/>
          </p:cNvCxnSpPr>
          <p:nvPr/>
        </p:nvCxnSpPr>
        <p:spPr>
          <a:xfrm rot="16200000" flipH="1">
            <a:off x="3416508" y="915216"/>
            <a:ext cx="289564" cy="215528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/>
          <p:cNvSpPr/>
          <p:nvPr/>
        </p:nvSpPr>
        <p:spPr>
          <a:xfrm>
            <a:off x="3853198" y="1338365"/>
            <a:ext cx="685800" cy="182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fcmix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50" name="Elbow Connector 149"/>
          <p:cNvCxnSpPr>
            <a:endCxn id="149" idx="1"/>
          </p:cNvCxnSpPr>
          <p:nvPr/>
        </p:nvCxnSpPr>
        <p:spPr>
          <a:xfrm rot="16200000" flipH="1">
            <a:off x="3708846" y="1285452"/>
            <a:ext cx="170601" cy="118104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tangle 150"/>
          <p:cNvSpPr/>
          <p:nvPr/>
        </p:nvSpPr>
        <p:spPr>
          <a:xfrm>
            <a:off x="3675958" y="1701162"/>
            <a:ext cx="685800" cy="182880"/>
          </a:xfrm>
          <a:prstGeom prst="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cvodes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52" name="Elbow Connector 151"/>
          <p:cNvCxnSpPr>
            <a:stCxn id="147" idx="2"/>
            <a:endCxn id="151" idx="1"/>
          </p:cNvCxnSpPr>
          <p:nvPr/>
        </p:nvCxnSpPr>
        <p:spPr>
          <a:xfrm rot="16200000" flipH="1">
            <a:off x="3107540" y="1224184"/>
            <a:ext cx="914404" cy="222432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152"/>
          <p:cNvSpPr/>
          <p:nvPr/>
        </p:nvSpPr>
        <p:spPr>
          <a:xfrm>
            <a:off x="3672727" y="1994108"/>
            <a:ext cx="685800" cy="182880"/>
          </a:xfrm>
          <a:prstGeom prst="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arkode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54" name="Elbow Connector 153"/>
          <p:cNvCxnSpPr>
            <a:stCxn id="147" idx="2"/>
            <a:endCxn id="153" idx="1"/>
          </p:cNvCxnSpPr>
          <p:nvPr/>
        </p:nvCxnSpPr>
        <p:spPr>
          <a:xfrm rot="16200000" flipH="1">
            <a:off x="2959451" y="1372272"/>
            <a:ext cx="1207350" cy="219201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Rectangle 154"/>
          <p:cNvSpPr/>
          <p:nvPr/>
        </p:nvSpPr>
        <p:spPr>
          <a:xfrm>
            <a:off x="3672726" y="2603708"/>
            <a:ext cx="685800" cy="182880"/>
          </a:xfrm>
          <a:prstGeom prst="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ida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56" name="Elbow Connector 155"/>
          <p:cNvCxnSpPr>
            <a:stCxn id="147" idx="2"/>
            <a:endCxn id="155" idx="1"/>
          </p:cNvCxnSpPr>
          <p:nvPr/>
        </p:nvCxnSpPr>
        <p:spPr>
          <a:xfrm rot="16200000" flipH="1">
            <a:off x="2654651" y="1677073"/>
            <a:ext cx="1816950" cy="219200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Rectangle 156"/>
          <p:cNvSpPr/>
          <p:nvPr/>
        </p:nvSpPr>
        <p:spPr>
          <a:xfrm>
            <a:off x="3672725" y="3209922"/>
            <a:ext cx="685800" cy="182880"/>
          </a:xfrm>
          <a:prstGeom prst="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idas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58" name="Elbow Connector 157"/>
          <p:cNvCxnSpPr>
            <a:stCxn id="147" idx="2"/>
            <a:endCxn id="157" idx="1"/>
          </p:cNvCxnSpPr>
          <p:nvPr/>
        </p:nvCxnSpPr>
        <p:spPr>
          <a:xfrm rot="16200000" flipH="1">
            <a:off x="2351543" y="1980180"/>
            <a:ext cx="2423164" cy="219199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Rectangle 158"/>
          <p:cNvSpPr/>
          <p:nvPr/>
        </p:nvSpPr>
        <p:spPr>
          <a:xfrm>
            <a:off x="3672725" y="3557054"/>
            <a:ext cx="685800" cy="182880"/>
          </a:xfrm>
          <a:prstGeom prst="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kinsol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60" name="Elbow Connector 159"/>
          <p:cNvCxnSpPr>
            <a:stCxn id="147" idx="2"/>
            <a:endCxn id="159" idx="1"/>
          </p:cNvCxnSpPr>
          <p:nvPr/>
        </p:nvCxnSpPr>
        <p:spPr>
          <a:xfrm rot="16200000" flipH="1">
            <a:off x="2177977" y="2153746"/>
            <a:ext cx="2770296" cy="219199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Elbow Connector 161"/>
          <p:cNvCxnSpPr>
            <a:stCxn id="147" idx="2"/>
            <a:endCxn id="240" idx="1"/>
          </p:cNvCxnSpPr>
          <p:nvPr/>
        </p:nvCxnSpPr>
        <p:spPr>
          <a:xfrm rot="16200000" flipH="1">
            <a:off x="1864793" y="2466931"/>
            <a:ext cx="3413764" cy="236298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Rectangle 177"/>
          <p:cNvSpPr/>
          <p:nvPr/>
        </p:nvSpPr>
        <p:spPr>
          <a:xfrm>
            <a:off x="3889230" y="3816982"/>
            <a:ext cx="685800" cy="182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fcmix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79" name="Elbow Connector 178"/>
          <p:cNvCxnSpPr>
            <a:endCxn id="178" idx="1"/>
          </p:cNvCxnSpPr>
          <p:nvPr/>
        </p:nvCxnSpPr>
        <p:spPr>
          <a:xfrm rot="16200000" flipH="1">
            <a:off x="3740935" y="3760127"/>
            <a:ext cx="168486" cy="128104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Rectangle 179"/>
          <p:cNvSpPr/>
          <p:nvPr/>
        </p:nvSpPr>
        <p:spPr>
          <a:xfrm>
            <a:off x="3889230" y="2864484"/>
            <a:ext cx="685800" cy="182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fcmix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81" name="Elbow Connector 180"/>
          <p:cNvCxnSpPr>
            <a:endCxn id="180" idx="1"/>
          </p:cNvCxnSpPr>
          <p:nvPr/>
        </p:nvCxnSpPr>
        <p:spPr>
          <a:xfrm rot="16200000" flipH="1">
            <a:off x="3740510" y="2807204"/>
            <a:ext cx="169336" cy="128104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Rectangle 181"/>
          <p:cNvSpPr/>
          <p:nvPr/>
        </p:nvSpPr>
        <p:spPr>
          <a:xfrm>
            <a:off x="3873086" y="2265042"/>
            <a:ext cx="685800" cy="182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fcmix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83" name="Elbow Connector 182"/>
          <p:cNvCxnSpPr>
            <a:endCxn id="182" idx="1"/>
          </p:cNvCxnSpPr>
          <p:nvPr/>
        </p:nvCxnSpPr>
        <p:spPr>
          <a:xfrm rot="16200000" flipH="1">
            <a:off x="3727360" y="2210756"/>
            <a:ext cx="179492" cy="111960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Elbow Connector 189"/>
          <p:cNvCxnSpPr>
            <a:stCxn id="147" idx="2"/>
            <a:endCxn id="244" idx="1"/>
          </p:cNvCxnSpPr>
          <p:nvPr/>
        </p:nvCxnSpPr>
        <p:spPr>
          <a:xfrm rot="16200000" flipH="1">
            <a:off x="1719753" y="2611970"/>
            <a:ext cx="3718564" cy="251019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Rectangle 191"/>
          <p:cNvSpPr/>
          <p:nvPr/>
        </p:nvSpPr>
        <p:spPr>
          <a:xfrm>
            <a:off x="3703916" y="4810122"/>
            <a:ext cx="962642" cy="18288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n</a:t>
            </a:r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vec_openmp</a:t>
            </a:r>
            <a:endParaRPr lang="en-US" sz="1000" dirty="0" smtClean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93" name="Elbow Connector 192"/>
          <p:cNvCxnSpPr>
            <a:stCxn id="147" idx="2"/>
            <a:endCxn id="192" idx="1"/>
          </p:cNvCxnSpPr>
          <p:nvPr/>
        </p:nvCxnSpPr>
        <p:spPr>
          <a:xfrm rot="16200000" flipH="1">
            <a:off x="1567039" y="2764685"/>
            <a:ext cx="4023364" cy="250390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/>
          <p:cNvSpPr/>
          <p:nvPr/>
        </p:nvSpPr>
        <p:spPr>
          <a:xfrm>
            <a:off x="3703912" y="5114922"/>
            <a:ext cx="1038846" cy="18288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nvec_pthreads</a:t>
            </a:r>
            <a:endParaRPr lang="en-US" sz="1000" dirty="0" smtClean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95" name="Elbow Connector 194"/>
          <p:cNvCxnSpPr>
            <a:stCxn id="147" idx="2"/>
            <a:endCxn id="194" idx="1"/>
          </p:cNvCxnSpPr>
          <p:nvPr/>
        </p:nvCxnSpPr>
        <p:spPr>
          <a:xfrm rot="16200000" flipH="1">
            <a:off x="1414637" y="2917087"/>
            <a:ext cx="4328164" cy="250386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Rectangle 195"/>
          <p:cNvSpPr/>
          <p:nvPr/>
        </p:nvSpPr>
        <p:spPr>
          <a:xfrm>
            <a:off x="3703913" y="5419722"/>
            <a:ext cx="962644" cy="18288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nvec_pargrid</a:t>
            </a:r>
            <a:endParaRPr lang="en-US" sz="1000" dirty="0" smtClean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97" name="Elbow Connector 196"/>
          <p:cNvCxnSpPr>
            <a:stCxn id="147" idx="2"/>
            <a:endCxn id="196" idx="1"/>
          </p:cNvCxnSpPr>
          <p:nvPr/>
        </p:nvCxnSpPr>
        <p:spPr>
          <a:xfrm rot="16200000" flipH="1">
            <a:off x="1262237" y="3069486"/>
            <a:ext cx="4632964" cy="250387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/>
          <p:cNvSpPr/>
          <p:nvPr/>
        </p:nvSpPr>
        <p:spPr>
          <a:xfrm>
            <a:off x="3703913" y="5724522"/>
            <a:ext cx="962644" cy="18288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nvec_spcpar</a:t>
            </a:r>
            <a:endParaRPr lang="en-US" sz="1000" dirty="0" smtClean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99" name="Elbow Connector 198"/>
          <p:cNvCxnSpPr>
            <a:stCxn id="147" idx="2"/>
            <a:endCxn id="198" idx="1"/>
          </p:cNvCxnSpPr>
          <p:nvPr/>
        </p:nvCxnSpPr>
        <p:spPr>
          <a:xfrm rot="16200000" flipH="1">
            <a:off x="1109837" y="3221886"/>
            <a:ext cx="4937764" cy="250387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Rectangle 239"/>
          <p:cNvSpPr/>
          <p:nvPr/>
        </p:nvSpPr>
        <p:spPr>
          <a:xfrm>
            <a:off x="3689824" y="4200522"/>
            <a:ext cx="685800" cy="18288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n</a:t>
            </a:r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vec_ser</a:t>
            </a:r>
            <a:endParaRPr lang="en-US" sz="1000" dirty="0" smtClean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244" name="Rectangle 243"/>
          <p:cNvSpPr/>
          <p:nvPr/>
        </p:nvSpPr>
        <p:spPr>
          <a:xfrm>
            <a:off x="3704545" y="4505322"/>
            <a:ext cx="685800" cy="18288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nvec_par</a:t>
            </a:r>
            <a:endParaRPr lang="en-US" sz="1000" dirty="0" smtClean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314" name="Rectangle 313"/>
          <p:cNvSpPr/>
          <p:nvPr/>
        </p:nvSpPr>
        <p:spPr>
          <a:xfrm>
            <a:off x="5199326" y="1072091"/>
            <a:ext cx="685800" cy="182880"/>
          </a:xfrm>
          <a:prstGeom prst="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cvode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315" name="Rectangle 314"/>
          <p:cNvSpPr/>
          <p:nvPr/>
        </p:nvSpPr>
        <p:spPr>
          <a:xfrm>
            <a:off x="4590358" y="695322"/>
            <a:ext cx="701040" cy="1828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1"/>
                </a:solidFill>
              </a:rPr>
              <a:t>examples</a:t>
            </a:r>
            <a:endParaRPr lang="en-US" sz="1000" dirty="0">
              <a:solidFill>
                <a:schemeClr val="tx1"/>
              </a:solidFill>
            </a:endParaRPr>
          </a:p>
        </p:txBody>
      </p:sp>
      <p:cxnSp>
        <p:nvCxnSpPr>
          <p:cNvPr id="316" name="Elbow Connector 315"/>
          <p:cNvCxnSpPr>
            <a:stCxn id="315" idx="2"/>
            <a:endCxn id="314" idx="1"/>
          </p:cNvCxnSpPr>
          <p:nvPr/>
        </p:nvCxnSpPr>
        <p:spPr>
          <a:xfrm rot="16200000" flipH="1">
            <a:off x="4927437" y="891641"/>
            <a:ext cx="285331" cy="258448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7" name="Rectangle 316"/>
          <p:cNvSpPr/>
          <p:nvPr/>
        </p:nvSpPr>
        <p:spPr>
          <a:xfrm>
            <a:off x="5383470" y="1376891"/>
            <a:ext cx="537147" cy="182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serial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318" name="Elbow Connector 317"/>
          <p:cNvCxnSpPr>
            <a:endCxn id="317" idx="1"/>
          </p:cNvCxnSpPr>
          <p:nvPr/>
        </p:nvCxnSpPr>
        <p:spPr>
          <a:xfrm rot="16200000" flipH="1">
            <a:off x="5230754" y="1315615"/>
            <a:ext cx="213360" cy="92072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Elbow Connector 319"/>
          <p:cNvCxnSpPr>
            <a:stCxn id="315" idx="2"/>
            <a:endCxn id="384" idx="1"/>
          </p:cNvCxnSpPr>
          <p:nvPr/>
        </p:nvCxnSpPr>
        <p:spPr>
          <a:xfrm rot="16200000" flipH="1">
            <a:off x="4623974" y="1195104"/>
            <a:ext cx="899161" cy="265352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Elbow Connector 321"/>
          <p:cNvCxnSpPr>
            <a:stCxn id="315" idx="2"/>
            <a:endCxn id="391" idx="1"/>
          </p:cNvCxnSpPr>
          <p:nvPr/>
        </p:nvCxnSpPr>
        <p:spPr>
          <a:xfrm rot="16200000" flipH="1">
            <a:off x="4319174" y="1499904"/>
            <a:ext cx="1508761" cy="265352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Elbow Connector 323"/>
          <p:cNvCxnSpPr>
            <a:stCxn id="315" idx="2"/>
            <a:endCxn id="412" idx="1"/>
          </p:cNvCxnSpPr>
          <p:nvPr/>
        </p:nvCxnSpPr>
        <p:spPr>
          <a:xfrm rot="16200000" flipH="1">
            <a:off x="3861974" y="1957104"/>
            <a:ext cx="2423161" cy="265352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Elbow Connector 325"/>
          <p:cNvCxnSpPr>
            <a:stCxn id="315" idx="2"/>
            <a:endCxn id="425" idx="1"/>
          </p:cNvCxnSpPr>
          <p:nvPr/>
        </p:nvCxnSpPr>
        <p:spPr>
          <a:xfrm rot="16200000" flipH="1">
            <a:off x="3536429" y="2282649"/>
            <a:ext cx="3074250" cy="265352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327"/>
          <p:cNvCxnSpPr>
            <a:stCxn id="315" idx="2"/>
            <a:endCxn id="433" idx="1"/>
          </p:cNvCxnSpPr>
          <p:nvPr/>
        </p:nvCxnSpPr>
        <p:spPr>
          <a:xfrm rot="16200000" flipH="1">
            <a:off x="3214274" y="2604804"/>
            <a:ext cx="3718561" cy="265352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Elbow Connector 328"/>
          <p:cNvCxnSpPr>
            <a:stCxn id="315" idx="2"/>
            <a:endCxn id="345" idx="1"/>
          </p:cNvCxnSpPr>
          <p:nvPr/>
        </p:nvCxnSpPr>
        <p:spPr>
          <a:xfrm rot="16200000" flipH="1">
            <a:off x="2916407" y="2902671"/>
            <a:ext cx="4328161" cy="279218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5" name="Rectangle 344"/>
          <p:cNvSpPr/>
          <p:nvPr/>
        </p:nvSpPr>
        <p:spPr>
          <a:xfrm>
            <a:off x="5220096" y="5114921"/>
            <a:ext cx="685800" cy="18288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nvector</a:t>
            </a:r>
            <a:endParaRPr lang="en-US" sz="1000" dirty="0" smtClean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347" name="Elbow Connector 346"/>
          <p:cNvCxnSpPr>
            <a:stCxn id="4" idx="2"/>
            <a:endCxn id="315" idx="0"/>
          </p:cNvCxnSpPr>
          <p:nvPr/>
        </p:nvCxnSpPr>
        <p:spPr>
          <a:xfrm rot="16200000" flipH="1">
            <a:off x="4443486" y="197930"/>
            <a:ext cx="304804" cy="689980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Rectangle 378"/>
          <p:cNvSpPr/>
          <p:nvPr/>
        </p:nvSpPr>
        <p:spPr>
          <a:xfrm>
            <a:off x="5980648" y="1376891"/>
            <a:ext cx="685800" cy="182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parallel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380" name="Rectangle 379"/>
          <p:cNvSpPr/>
          <p:nvPr/>
        </p:nvSpPr>
        <p:spPr>
          <a:xfrm>
            <a:off x="6734008" y="1376890"/>
            <a:ext cx="910622" cy="187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</a:t>
            </a:r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xmix_serial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382" name="Rectangle 381"/>
          <p:cNvSpPr/>
          <p:nvPr/>
        </p:nvSpPr>
        <p:spPr>
          <a:xfrm>
            <a:off x="7724608" y="1376890"/>
            <a:ext cx="986822" cy="187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fxmix_parallel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384" name="Rectangle 383"/>
          <p:cNvSpPr/>
          <p:nvPr/>
        </p:nvSpPr>
        <p:spPr>
          <a:xfrm>
            <a:off x="5206230" y="1685921"/>
            <a:ext cx="685800" cy="182880"/>
          </a:xfrm>
          <a:prstGeom prst="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cvodes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385" name="Rectangle 384"/>
          <p:cNvSpPr/>
          <p:nvPr/>
        </p:nvSpPr>
        <p:spPr>
          <a:xfrm>
            <a:off x="5390374" y="1990721"/>
            <a:ext cx="537147" cy="182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serial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386" name="Elbow Connector 385"/>
          <p:cNvCxnSpPr>
            <a:endCxn id="385" idx="1"/>
          </p:cNvCxnSpPr>
          <p:nvPr/>
        </p:nvCxnSpPr>
        <p:spPr>
          <a:xfrm rot="16200000" flipH="1">
            <a:off x="5237658" y="1929445"/>
            <a:ext cx="213360" cy="92072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Rectangle 386"/>
          <p:cNvSpPr/>
          <p:nvPr/>
        </p:nvSpPr>
        <p:spPr>
          <a:xfrm>
            <a:off x="5987552" y="1990721"/>
            <a:ext cx="685800" cy="182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parallel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391" name="Rectangle 390"/>
          <p:cNvSpPr/>
          <p:nvPr/>
        </p:nvSpPr>
        <p:spPr>
          <a:xfrm>
            <a:off x="5206230" y="2295521"/>
            <a:ext cx="685800" cy="182880"/>
          </a:xfrm>
          <a:prstGeom prst="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arkode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392" name="Rectangle 391"/>
          <p:cNvSpPr/>
          <p:nvPr/>
        </p:nvSpPr>
        <p:spPr>
          <a:xfrm>
            <a:off x="5390374" y="2600320"/>
            <a:ext cx="714928" cy="187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C_serial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393" name="Elbow Connector 392"/>
          <p:cNvCxnSpPr>
            <a:endCxn id="392" idx="1"/>
          </p:cNvCxnSpPr>
          <p:nvPr/>
        </p:nvCxnSpPr>
        <p:spPr>
          <a:xfrm rot="16200000" flipH="1">
            <a:off x="5236599" y="2540101"/>
            <a:ext cx="215478" cy="92071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Rectangle 393"/>
          <p:cNvSpPr/>
          <p:nvPr/>
        </p:nvSpPr>
        <p:spPr>
          <a:xfrm>
            <a:off x="6184412" y="2600320"/>
            <a:ext cx="774418" cy="18711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C_parallel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395" name="Rectangle 394"/>
          <p:cNvSpPr/>
          <p:nvPr/>
        </p:nvSpPr>
        <p:spPr>
          <a:xfrm>
            <a:off x="7035030" y="2600320"/>
            <a:ext cx="758222" cy="18626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CXX_serial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396" name="Rectangle 395"/>
          <p:cNvSpPr/>
          <p:nvPr/>
        </p:nvSpPr>
        <p:spPr>
          <a:xfrm>
            <a:off x="7883912" y="2600320"/>
            <a:ext cx="910622" cy="18626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CXX_parallel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05" name="Rectangle 404"/>
          <p:cNvSpPr/>
          <p:nvPr/>
        </p:nvSpPr>
        <p:spPr>
          <a:xfrm>
            <a:off x="5394152" y="2874644"/>
            <a:ext cx="790260" cy="187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F77_serial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406" name="Elbow Connector 405"/>
          <p:cNvCxnSpPr>
            <a:endCxn id="405" idx="1"/>
          </p:cNvCxnSpPr>
          <p:nvPr/>
        </p:nvCxnSpPr>
        <p:spPr>
          <a:xfrm rot="16200000" flipH="1">
            <a:off x="5103218" y="2677266"/>
            <a:ext cx="489798" cy="92070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7" name="Rectangle 406"/>
          <p:cNvSpPr/>
          <p:nvPr/>
        </p:nvSpPr>
        <p:spPr>
          <a:xfrm>
            <a:off x="6273030" y="2874644"/>
            <a:ext cx="898856" cy="187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F77_parallel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08" name="Rectangle 407"/>
          <p:cNvSpPr/>
          <p:nvPr/>
        </p:nvSpPr>
        <p:spPr>
          <a:xfrm>
            <a:off x="8261134" y="2874644"/>
            <a:ext cx="758222" cy="18626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F90_serial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09" name="Rectangle 408"/>
          <p:cNvSpPr/>
          <p:nvPr/>
        </p:nvSpPr>
        <p:spPr>
          <a:xfrm>
            <a:off x="7274312" y="2874644"/>
            <a:ext cx="910622" cy="18626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F90_parallel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12" name="Rectangle 411"/>
          <p:cNvSpPr/>
          <p:nvPr/>
        </p:nvSpPr>
        <p:spPr>
          <a:xfrm>
            <a:off x="5206230" y="3209921"/>
            <a:ext cx="685800" cy="182880"/>
          </a:xfrm>
          <a:prstGeom prst="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ida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13" name="Rectangle 412"/>
          <p:cNvSpPr/>
          <p:nvPr/>
        </p:nvSpPr>
        <p:spPr>
          <a:xfrm>
            <a:off x="5390374" y="3514721"/>
            <a:ext cx="537147" cy="182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serial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414" name="Elbow Connector 413"/>
          <p:cNvCxnSpPr>
            <a:endCxn id="413" idx="1"/>
          </p:cNvCxnSpPr>
          <p:nvPr/>
        </p:nvCxnSpPr>
        <p:spPr>
          <a:xfrm rot="16200000" flipH="1">
            <a:off x="5237658" y="3453445"/>
            <a:ext cx="213360" cy="92072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5" name="Rectangle 414"/>
          <p:cNvSpPr/>
          <p:nvPr/>
        </p:nvSpPr>
        <p:spPr>
          <a:xfrm>
            <a:off x="5987552" y="3514721"/>
            <a:ext cx="685800" cy="182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parallel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16" name="Rectangle 415"/>
          <p:cNvSpPr/>
          <p:nvPr/>
        </p:nvSpPr>
        <p:spPr>
          <a:xfrm>
            <a:off x="6740912" y="3514720"/>
            <a:ext cx="910622" cy="187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</a:t>
            </a:r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xmix_serial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17" name="Rectangle 416"/>
          <p:cNvSpPr/>
          <p:nvPr/>
        </p:nvSpPr>
        <p:spPr>
          <a:xfrm>
            <a:off x="7731512" y="3514720"/>
            <a:ext cx="986822" cy="187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fxmix_parallel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25" name="Rectangle 424"/>
          <p:cNvSpPr/>
          <p:nvPr/>
        </p:nvSpPr>
        <p:spPr>
          <a:xfrm>
            <a:off x="5206230" y="3861010"/>
            <a:ext cx="685800" cy="182880"/>
          </a:xfrm>
          <a:prstGeom prst="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idas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26" name="Rectangle 425"/>
          <p:cNvSpPr/>
          <p:nvPr/>
        </p:nvSpPr>
        <p:spPr>
          <a:xfrm>
            <a:off x="5390374" y="4165810"/>
            <a:ext cx="537147" cy="182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serial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427" name="Elbow Connector 426"/>
          <p:cNvCxnSpPr>
            <a:endCxn id="426" idx="1"/>
          </p:cNvCxnSpPr>
          <p:nvPr/>
        </p:nvCxnSpPr>
        <p:spPr>
          <a:xfrm rot="16200000" flipH="1">
            <a:off x="5237658" y="4104534"/>
            <a:ext cx="213360" cy="92072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8" name="Rectangle 427"/>
          <p:cNvSpPr/>
          <p:nvPr/>
        </p:nvSpPr>
        <p:spPr>
          <a:xfrm>
            <a:off x="5987552" y="4165810"/>
            <a:ext cx="685800" cy="182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parallel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33" name="Rectangle 432"/>
          <p:cNvSpPr/>
          <p:nvPr/>
        </p:nvSpPr>
        <p:spPr>
          <a:xfrm>
            <a:off x="5206230" y="4505321"/>
            <a:ext cx="685800" cy="182880"/>
          </a:xfrm>
          <a:prstGeom prst="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kinsol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34" name="Rectangle 433"/>
          <p:cNvSpPr/>
          <p:nvPr/>
        </p:nvSpPr>
        <p:spPr>
          <a:xfrm>
            <a:off x="5390374" y="4810121"/>
            <a:ext cx="537147" cy="182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serial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435" name="Elbow Connector 434"/>
          <p:cNvCxnSpPr/>
          <p:nvPr/>
        </p:nvCxnSpPr>
        <p:spPr>
          <a:xfrm rot="16200000" flipH="1">
            <a:off x="5237658" y="4748845"/>
            <a:ext cx="213360" cy="92072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6" name="Rectangle 435"/>
          <p:cNvSpPr/>
          <p:nvPr/>
        </p:nvSpPr>
        <p:spPr>
          <a:xfrm>
            <a:off x="5987552" y="4810121"/>
            <a:ext cx="685800" cy="182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parallel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37" name="Rectangle 436"/>
          <p:cNvSpPr/>
          <p:nvPr/>
        </p:nvSpPr>
        <p:spPr>
          <a:xfrm>
            <a:off x="6740912" y="4810120"/>
            <a:ext cx="910622" cy="187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</a:t>
            </a:r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xmix_serial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38" name="Rectangle 437"/>
          <p:cNvSpPr/>
          <p:nvPr/>
        </p:nvSpPr>
        <p:spPr>
          <a:xfrm>
            <a:off x="7731512" y="4810120"/>
            <a:ext cx="986822" cy="187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fxmix_parallel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40" name="Rectangle 439"/>
          <p:cNvSpPr/>
          <p:nvPr/>
        </p:nvSpPr>
        <p:spPr>
          <a:xfrm>
            <a:off x="5434830" y="5385010"/>
            <a:ext cx="537147" cy="182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serial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441" name="Elbow Connector 440"/>
          <p:cNvCxnSpPr>
            <a:endCxn id="440" idx="1"/>
          </p:cNvCxnSpPr>
          <p:nvPr/>
        </p:nvCxnSpPr>
        <p:spPr>
          <a:xfrm rot="16200000" flipH="1">
            <a:off x="5286555" y="5328174"/>
            <a:ext cx="178651" cy="117899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Rectangle 441"/>
          <p:cNvSpPr/>
          <p:nvPr/>
        </p:nvSpPr>
        <p:spPr>
          <a:xfrm>
            <a:off x="6032008" y="5385010"/>
            <a:ext cx="685800" cy="182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parallel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43" name="Rectangle 442"/>
          <p:cNvSpPr/>
          <p:nvPr/>
        </p:nvSpPr>
        <p:spPr>
          <a:xfrm>
            <a:off x="6785368" y="5385009"/>
            <a:ext cx="706862" cy="18288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pthreads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44" name="Rectangle 443"/>
          <p:cNvSpPr/>
          <p:nvPr/>
        </p:nvSpPr>
        <p:spPr>
          <a:xfrm>
            <a:off x="7568430" y="5385009"/>
            <a:ext cx="706862" cy="187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openmp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450" name="Elbow Connector 449"/>
          <p:cNvCxnSpPr>
            <a:stCxn id="4" idx="2"/>
            <a:endCxn id="94" idx="0"/>
          </p:cNvCxnSpPr>
          <p:nvPr/>
        </p:nvCxnSpPr>
        <p:spPr>
          <a:xfrm rot="16200000" flipH="1">
            <a:off x="5861779" y="-1220363"/>
            <a:ext cx="304803" cy="3526564"/>
          </a:xfrm>
          <a:prstGeom prst="bentConnector3">
            <a:avLst>
              <a:gd name="adj1" fmla="val 50000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Elbow Connector 467"/>
          <p:cNvCxnSpPr>
            <a:stCxn id="101" idx="2"/>
            <a:endCxn id="476" idx="1"/>
          </p:cNvCxnSpPr>
          <p:nvPr/>
        </p:nvCxnSpPr>
        <p:spPr>
          <a:xfrm rot="16200000" flipH="1">
            <a:off x="-882830" y="2235705"/>
            <a:ext cx="2880365" cy="165346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1" name="Elbow Connector 470"/>
          <p:cNvCxnSpPr>
            <a:stCxn id="101" idx="2"/>
            <a:endCxn id="492" idx="1"/>
          </p:cNvCxnSpPr>
          <p:nvPr/>
        </p:nvCxnSpPr>
        <p:spPr>
          <a:xfrm rot="16200000" flipH="1">
            <a:off x="-1185515" y="2538390"/>
            <a:ext cx="3485734" cy="165346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2" name="Elbow Connector 471"/>
          <p:cNvCxnSpPr>
            <a:stCxn id="101" idx="2"/>
            <a:endCxn id="496" idx="1"/>
          </p:cNvCxnSpPr>
          <p:nvPr/>
        </p:nvCxnSpPr>
        <p:spPr>
          <a:xfrm rot="16200000" flipH="1">
            <a:off x="-1507670" y="2860545"/>
            <a:ext cx="4130045" cy="165346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3" name="Elbow Connector 472"/>
          <p:cNvCxnSpPr>
            <a:stCxn id="101" idx="2"/>
            <a:endCxn id="474" idx="1"/>
          </p:cNvCxnSpPr>
          <p:nvPr/>
        </p:nvCxnSpPr>
        <p:spPr>
          <a:xfrm rot="16200000" flipH="1">
            <a:off x="-1805537" y="3158412"/>
            <a:ext cx="4739645" cy="179212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Rectangle 473"/>
          <p:cNvSpPr/>
          <p:nvPr/>
        </p:nvSpPr>
        <p:spPr>
          <a:xfrm>
            <a:off x="653891" y="5526401"/>
            <a:ext cx="685800" cy="18288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nvector</a:t>
            </a:r>
            <a:endParaRPr lang="en-US" sz="1000" dirty="0" smtClean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76" name="Rectangle 475"/>
          <p:cNvSpPr/>
          <p:nvPr/>
        </p:nvSpPr>
        <p:spPr>
          <a:xfrm>
            <a:off x="640025" y="3667121"/>
            <a:ext cx="685800" cy="182880"/>
          </a:xfrm>
          <a:prstGeom prst="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cvodes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77" name="Rectangle 476"/>
          <p:cNvSpPr/>
          <p:nvPr/>
        </p:nvSpPr>
        <p:spPr>
          <a:xfrm>
            <a:off x="1300147" y="3971921"/>
            <a:ext cx="940078" cy="182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e</a:t>
            </a:r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xamples_ser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79" name="Rectangle 478"/>
          <p:cNvSpPr/>
          <p:nvPr/>
        </p:nvSpPr>
        <p:spPr>
          <a:xfrm>
            <a:off x="2316425" y="3971921"/>
            <a:ext cx="978533" cy="182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e</a:t>
            </a:r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xamples_par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492" name="Rectangle 491"/>
          <p:cNvSpPr/>
          <p:nvPr/>
        </p:nvSpPr>
        <p:spPr>
          <a:xfrm>
            <a:off x="640025" y="4272490"/>
            <a:ext cx="685800" cy="182880"/>
          </a:xfrm>
          <a:prstGeom prst="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idas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494" name="Elbow Connector 493"/>
          <p:cNvCxnSpPr>
            <a:endCxn id="518" idx="1"/>
          </p:cNvCxnSpPr>
          <p:nvPr/>
        </p:nvCxnSpPr>
        <p:spPr>
          <a:xfrm rot="16200000" flipH="1">
            <a:off x="671043" y="4516424"/>
            <a:ext cx="207540" cy="85432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6" name="Rectangle 495"/>
          <p:cNvSpPr/>
          <p:nvPr/>
        </p:nvSpPr>
        <p:spPr>
          <a:xfrm>
            <a:off x="640025" y="4916801"/>
            <a:ext cx="685800" cy="182880"/>
          </a:xfrm>
          <a:prstGeom prst="rect">
            <a:avLst/>
          </a:prstGeom>
          <a:solidFill>
            <a:srgbClr val="FFFF00">
              <a:alpha val="3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kinsol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504" name="Elbow Connector 503"/>
          <p:cNvCxnSpPr>
            <a:stCxn id="101" idx="2"/>
            <a:endCxn id="505" idx="1"/>
          </p:cNvCxnSpPr>
          <p:nvPr/>
        </p:nvCxnSpPr>
        <p:spPr>
          <a:xfrm rot="16200000" flipH="1">
            <a:off x="-1969474" y="3322348"/>
            <a:ext cx="5067517" cy="179211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5" name="Rectangle 504"/>
          <p:cNvSpPr/>
          <p:nvPr/>
        </p:nvSpPr>
        <p:spPr>
          <a:xfrm>
            <a:off x="653890" y="5854273"/>
            <a:ext cx="685800" cy="18288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putils</a:t>
            </a:r>
            <a:endParaRPr lang="en-US" sz="1000" dirty="0" smtClean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514" name="Rectangle 513"/>
          <p:cNvSpPr/>
          <p:nvPr/>
        </p:nvSpPr>
        <p:spPr>
          <a:xfrm>
            <a:off x="810626" y="3960281"/>
            <a:ext cx="432096" cy="19451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cvm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515" name="Elbow Connector 514"/>
          <p:cNvCxnSpPr>
            <a:endCxn id="514" idx="1"/>
          </p:cNvCxnSpPr>
          <p:nvPr/>
        </p:nvCxnSpPr>
        <p:spPr>
          <a:xfrm rot="16200000" flipH="1">
            <a:off x="654999" y="3901914"/>
            <a:ext cx="219180" cy="92073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7" name="Rectangle 516"/>
          <p:cNvSpPr/>
          <p:nvPr/>
        </p:nvSpPr>
        <p:spPr>
          <a:xfrm>
            <a:off x="1309753" y="4568031"/>
            <a:ext cx="940078" cy="182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e</a:t>
            </a:r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xamples_ser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518" name="Rectangle 517"/>
          <p:cNvSpPr/>
          <p:nvPr/>
        </p:nvSpPr>
        <p:spPr>
          <a:xfrm>
            <a:off x="817529" y="4565650"/>
            <a:ext cx="432096" cy="19451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idm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522" name="Rectangle 521"/>
          <p:cNvSpPr/>
          <p:nvPr/>
        </p:nvSpPr>
        <p:spPr>
          <a:xfrm>
            <a:off x="1297820" y="5217581"/>
            <a:ext cx="940078" cy="182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e</a:t>
            </a:r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xamples_ser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523" name="Rectangle 522"/>
          <p:cNvSpPr/>
          <p:nvPr/>
        </p:nvSpPr>
        <p:spPr>
          <a:xfrm>
            <a:off x="2314098" y="5217581"/>
            <a:ext cx="978533" cy="1828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e</a:t>
            </a:r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xamples_par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524" name="Rectangle 523"/>
          <p:cNvSpPr/>
          <p:nvPr/>
        </p:nvSpPr>
        <p:spPr>
          <a:xfrm>
            <a:off x="808299" y="5205941"/>
            <a:ext cx="432096" cy="19451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 smtClean="0">
                <a:solidFill>
                  <a:schemeClr val="tx2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kim</a:t>
            </a:r>
            <a:endParaRPr lang="en-US" sz="1000" dirty="0">
              <a:solidFill>
                <a:schemeClr val="tx2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525" name="Elbow Connector 524"/>
          <p:cNvCxnSpPr>
            <a:endCxn id="524" idx="1"/>
          </p:cNvCxnSpPr>
          <p:nvPr/>
        </p:nvCxnSpPr>
        <p:spPr>
          <a:xfrm rot="16200000" flipH="1">
            <a:off x="660504" y="5155406"/>
            <a:ext cx="203518" cy="92072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64988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609</TotalTime>
  <Words>150</Words>
  <Application>Microsoft Office PowerPoint</Application>
  <PresentationFormat>On-screen Show (4:3)</PresentationFormat>
  <Paragraphs>136</Paragraphs>
  <Slides>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Banks, Eddy</dc:creator>
  <cp:lastModifiedBy>Lawrence E. Banks</cp:lastModifiedBy>
  <cp:revision>36</cp:revision>
  <cp:lastPrinted>2014-04-03T20:16:36Z</cp:lastPrinted>
  <dcterms:created xsi:type="dcterms:W3CDTF">2006-08-16T00:00:00Z</dcterms:created>
  <dcterms:modified xsi:type="dcterms:W3CDTF">2014-05-21T17:15:41Z</dcterms:modified>
</cp:coreProperties>
</file>